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91695" cy="15544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</a:defRPr>
            </a:pPr>
            <a:r>
              <a:t>Analiza i prognozowanie zapotrzebowania na energię elektryczną w Hiszpanii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060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</a:defRPr>
            </a:pPr>
            <a:r>
              <a:t>Analiza szeregów czasowych na publicznym zbiorze danych (2015–2018)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5321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Dawid Hetmańczyk (album 126674)  •  Bartosz Bugla (album 180737)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Merito Chorzów  |  2025/2026  |  semestr 3 (letni)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Agenda prezentacji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14300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263238"/>
                </a:solidFill>
              </a:defRPr>
            </a:pPr>
            <a:r>
              <a:t>•  Cel i kontekst biznesowy analizy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81912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263238"/>
                </a:solidFill>
              </a:defRPr>
            </a:pPr>
            <a:r>
              <a:t>•  Opis publicznego zbioru danych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20824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263238"/>
                </a:solidFill>
              </a:defRPr>
            </a:pPr>
            <a:r>
              <a:t>•  Pre-processing w Pandas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459736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263238"/>
                </a:solidFill>
              </a:defRPr>
            </a:pPr>
            <a:r>
              <a:t>•  Analiza wizualna i interaktywny dashboard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898648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263238"/>
                </a:solidFill>
              </a:defRPr>
            </a:pPr>
            <a:r>
              <a:t>•  Statystyka, testy hipotez, szeregi czasowe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33756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263238"/>
                </a:solidFill>
              </a:defRPr>
            </a:pPr>
            <a:r>
              <a:t>•  Model predykcyjny i wnioski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C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565392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07D8B"/>
                </a:solidFill>
              </a:defRPr>
            </a:pPr>
            <a:r>
              <a:t>Analiza i wizualizacja danych – Pandas, DataFrame  •  Merito Chorzów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565392"/>
            <a:ext cx="731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07D8B"/>
                </a:solidFill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Problem badawczy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1430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07D8B"/>
                </a:solidFill>
              </a:defRPr>
            </a:pPr>
            <a:r>
              <a:t>Projekt zaliczeniowy — Python + Pandas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263238"/>
                </a:solidFill>
              </a:defRPr>
            </a:pPr>
            <a:r>
              <a:t>•  System elektroenergetyczny wymaga bilansowania produkcji i zużycia w każdej godzinie.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39112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263238"/>
                </a:solidFill>
              </a:defRPr>
            </a:pPr>
            <a:r>
              <a:t>•  Operatorzy i traderzy potrzebują prognoz obciążenia (load forecasting).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478024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263238"/>
                </a:solidFill>
              </a:defRPr>
            </a:pPr>
            <a:r>
              <a:t>•  Cel projektu: zrozumieć wzorce zużycia w Hiszpanii (2015–2018) i zbudować baseline predykcyjny.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916936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263238"/>
                </a:solidFill>
              </a:defRPr>
            </a:pPr>
            <a:r>
              <a:t>•  Hipotezy: sezonowość, niższe zużycie w weekendy, związek zużycia z temperaturą.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C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65392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07D8B"/>
                </a:solidFill>
              </a:defRPr>
            </a:pPr>
            <a:r>
              <a:t>Analiza i wizualizacja danych – Pandas, DataFrame  •  Merito Chorzów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565392"/>
            <a:ext cx="731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07D8B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Zespół i repozytorium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565C0"/>
                </a:solidFill>
              </a:defRPr>
            </a:pPr>
            <a:r>
              <a:t>Kluczowe informacje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0972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7D32"/>
                </a:solidFill>
              </a:defRPr>
            </a:pPr>
            <a:r>
              <a:t>Metody / narzędzia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63238"/>
                </a:solidFill>
              </a:defRPr>
            </a:pPr>
            <a:r>
              <a:t>•  Dawid Hetmańczyk — album 126674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19656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63238"/>
                </a:solidFill>
              </a:defRPr>
            </a:pPr>
            <a:r>
              <a:t>•  Bartosz Bugla — album 180737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417320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63238"/>
                </a:solidFill>
              </a:defRPr>
            </a:pPr>
            <a:r>
              <a:t>•  GitHub: https://github.com/BartoszBugla/prognoza-zapotrzebowania-na-energie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819656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63238"/>
                </a:solidFill>
              </a:defRPr>
            </a:pPr>
            <a:r>
              <a:t>•  Kod: analiza.ipynb (główna analiza)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2221992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63238"/>
                </a:solidFill>
              </a:defRPr>
            </a:pPr>
            <a:r>
              <a:t>•  Raport: docs/raport.docx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624328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63238"/>
                </a:solidFill>
              </a:defRPr>
            </a:pPr>
            <a:r>
              <a:t>•  Udostępnienie prowadzącej: akkosan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C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6565392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07D8B"/>
                </a:solidFill>
              </a:defRPr>
            </a:pPr>
            <a:r>
              <a:t>Analiza i wizualizacja danych – Pandas, DataFrame  •  Merito Chorzów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94415" y="6565392"/>
            <a:ext cx="731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07D8B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63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2E7D32"/>
                </a:solidFill>
              </a:defRPr>
            </a:pPr>
            <a: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Zbiór danych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C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65392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07D8B"/>
                </a:solidFill>
              </a:defRPr>
            </a:pPr>
            <a:r>
              <a:t>Analiza i wizualizacja danych – Pandas, DataFrame  •  Merito Chorzów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565392"/>
            <a:ext cx="731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07D8B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Charakterystyka zbioru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80160"/>
            <a:ext cx="3469538" cy="4389120"/>
          </a:xfrm>
          <a:prstGeom prst="roundRect">
            <a:avLst/>
          </a:prstGeom>
          <a:solidFill>
            <a:srgbClr val="ECEFF1"/>
          </a:solidFill>
          <a:ln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07D8B"/>
                </a:solidFill>
              </a:defRPr>
            </a:pPr>
            <a:r>
              <a:t>Obserwacje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324093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565C0"/>
                </a:solidFill>
              </a:defRPr>
            </a:pPr>
            <a:r>
              <a:t>35,064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00400"/>
            <a:ext cx="3240938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63238"/>
                </a:solidFill>
              </a:defRPr>
            </a:pPr>
            <a:r>
              <a:t>Godzinowe rekordy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46778" y="1280160"/>
            <a:ext cx="3469538" cy="4389120"/>
          </a:xfrm>
          <a:prstGeom prst="roundRect">
            <a:avLst/>
          </a:prstGeom>
          <a:solidFill>
            <a:srgbClr val="ECEFF1"/>
          </a:solidFill>
          <a:ln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1508760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07D8B"/>
                </a:solidFill>
              </a:defRPr>
            </a:pPr>
            <a:r>
              <a:t>Okres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29658" y="2011680"/>
            <a:ext cx="324093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565C0"/>
                </a:solidFill>
              </a:defRPr>
            </a:pPr>
            <a:r>
              <a:t>2014-12-31</a:t>
            </a:r>
            <a:br/>
            <a:r>
              <a:t>– 2018-12-31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3200400"/>
            <a:ext cx="3240938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63238"/>
                </a:solidFill>
              </a:defRPr>
            </a:pPr>
            <a:r>
              <a:t>4 lata danych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44916" y="1280160"/>
            <a:ext cx="3469538" cy="4389120"/>
          </a:xfrm>
          <a:prstGeom prst="roundRect">
            <a:avLst/>
          </a:prstGeom>
          <a:solidFill>
            <a:srgbClr val="ECEFF1"/>
          </a:solidFill>
          <a:ln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7796" y="1508760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07D8B"/>
                </a:solidFill>
              </a:defRPr>
            </a:pPr>
            <a:r>
              <a:t>Zmienne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7796" y="2011680"/>
            <a:ext cx="324093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565C0"/>
                </a:solidFill>
              </a:defRPr>
            </a:pPr>
            <a:r>
              <a:t>41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27796" y="3200400"/>
            <a:ext cx="3240938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63238"/>
                </a:solidFill>
              </a:defRPr>
            </a:pPr>
            <a:r>
              <a:t>Po scaleniu energia + pogoda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C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565392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07D8B"/>
                </a:solidFill>
              </a:defRPr>
            </a:pPr>
            <a:r>
              <a:t>Analiza i wizualizacja danych – Pandas, DataFrame  •  Merito Chorzów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94415" y="6565392"/>
            <a:ext cx="731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07D8B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Źródła i zakres zmiennych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4360" y="1188720"/>
          <a:ext cx="109728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114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Kategoria</a:t>
                      </a:r>
                    </a:p>
                  </a:txBody>
                  <a:tcPr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Przykłady</a:t>
                      </a:r>
                    </a:p>
                  </a:txBody>
                  <a:tcPr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Opis</a:t>
                      </a:r>
                    </a:p>
                  </a:txBody>
                  <a:tcPr>
                    <a:solidFill>
                      <a:srgbClr val="1565C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Zużycie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total load actual/forecast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Obciążenie sieci [MW]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Produkcja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 źródeł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OZE, węgiel, gaz, atom...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Ceny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price day ahead / 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Rynek dnia następnego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Pogoda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temp, humidity, wind...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Średnia z 5 miast Hiszpanii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C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65392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07D8B"/>
                </a:solidFill>
              </a:defRPr>
            </a:pPr>
            <a:r>
              <a:t>Analiza i wizualizacja danych – Pandas, DataFrame  •  Merito Chorzów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565392"/>
            <a:ext cx="731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07D8B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63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2E7D32"/>
                </a:solidFill>
              </a:defRPr>
            </a:pPr>
            <a: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Przygotowanie danych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C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65392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07D8B"/>
                </a:solidFill>
              </a:defRPr>
            </a:pPr>
            <a:r>
              <a:t>Analiza i wizualizacja danych – Pandas, DataFrame  •  Merito Chorzów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565392"/>
            <a:ext cx="731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07D8B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Pre-processing (dobre praktyki Pandas)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14300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263238"/>
                </a:solidFill>
              </a:defRPr>
            </a:pPr>
            <a:r>
              <a:t>•  Wczytanie CSV z parse_dates i indeksem czasowym (UTC)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81912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263238"/>
                </a:solidFill>
              </a:defRPr>
            </a:pPr>
            <a:r>
              <a:t>•  Usunięcie kolumn w pełni pustych; uzupełnienie braków ffill/bfill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20824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263238"/>
                </a:solidFill>
              </a:defRPr>
            </a:pPr>
            <a:r>
              <a:t>•  Konwersja temperatury K → °C; agregacja pogody po timestamp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459736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263238"/>
                </a:solidFill>
              </a:defRPr>
            </a:pPr>
            <a:r>
              <a:t>•  Join energia + pogoda (left join + uzupełnienie)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898648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263238"/>
                </a:solidFill>
              </a:defRPr>
            </a:pPr>
            <a:r>
              <a:t>•  Feature engineering: godzina, dzień tygodnia, miesiąc, weekend, udział OZE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C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65392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07D8B"/>
                </a:solidFill>
              </a:defRPr>
            </a:pPr>
            <a:r>
              <a:t>Analiza i wizualizacja danych – Pandas, DataFrame  •  Merito Chorzów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565392"/>
            <a:ext cx="731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07D8B"/>
                </a:solidFill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63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2E7D32"/>
                </a:solidFill>
              </a:defRPr>
            </a:pPr>
            <a: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Analiza wizualna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C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65392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07D8B"/>
                </a:solidFill>
              </a:defRPr>
            </a:pPr>
            <a:r>
              <a:t>Analiza i wizualizacja danych – Pandas, DataFrame  •  Merito Chorzów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565392"/>
            <a:ext cx="731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07D8B"/>
                </a:solidFill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Zużycie energii w czasie</a:t>
            </a:r>
          </a:p>
        </p:txBody>
      </p:sp>
      <p:pic>
        <p:nvPicPr>
          <p:cNvPr id="4" name="Picture 3" descr="01_zuzycie_cz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097280"/>
            <a:ext cx="10972800" cy="370247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5989320"/>
            <a:ext cx="10972800" cy="502920"/>
          </a:xfrm>
          <a:prstGeom prst="rect">
            <a:avLst/>
          </a:prstGeom>
          <a:solidFill>
            <a:srgbClr val="EC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053328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63238"/>
                </a:solidFill>
              </a:defRPr>
            </a:pPr>
            <a:r>
              <a:t>Wyraźna sezonowość roczna — wyższe zużycie zimą i latem (ogrzewanie / klimatyzacja).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C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07D8B"/>
                </a:solidFill>
              </a:defRPr>
            </a:pPr>
            <a:r>
              <a:t>Analiza i wizualizacja danych – Pandas, DataFrame  •  Merito Chorzów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565392"/>
            <a:ext cx="731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07D8B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Profil dobowy</a:t>
            </a:r>
          </a:p>
        </p:txBody>
      </p:sp>
      <p:pic>
        <p:nvPicPr>
          <p:cNvPr id="4" name="Picture 3" descr="02_profil_dobow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097280"/>
            <a:ext cx="10972800" cy="540389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5989320"/>
            <a:ext cx="10972800" cy="502920"/>
          </a:xfrm>
          <a:prstGeom prst="rect">
            <a:avLst/>
          </a:prstGeom>
          <a:solidFill>
            <a:srgbClr val="EC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053328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63238"/>
                </a:solidFill>
              </a:defRPr>
            </a:pPr>
            <a:r>
              <a:t>Dwa szczyty w dni robocze (rano i wieczór); weekend — niższe i bardziej płaskie zużycie.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C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07D8B"/>
                </a:solidFill>
              </a:defRPr>
            </a:pPr>
            <a:r>
              <a:t>Analiza i wizualizacja danych – Pandas, DataFrame  •  Merito Chorzów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565392"/>
            <a:ext cx="731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07D8B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Heatmapa godzina × miesiąc</a:t>
            </a:r>
          </a:p>
        </p:txBody>
      </p:sp>
      <p:pic>
        <p:nvPicPr>
          <p:cNvPr id="4" name="Picture 3" descr="03_heatma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097280"/>
            <a:ext cx="10972800" cy="620460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5989320"/>
            <a:ext cx="10972800" cy="502920"/>
          </a:xfrm>
          <a:prstGeom prst="rect">
            <a:avLst/>
          </a:prstGeom>
          <a:solidFill>
            <a:srgbClr val="EC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053328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63238"/>
                </a:solidFill>
              </a:defRPr>
            </a:pPr>
            <a:r>
              <a:t>Wizualizacja interakcji pory dnia i sezonu — podstawa planowania szczytów.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C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07D8B"/>
                </a:solidFill>
              </a:defRPr>
            </a:pPr>
            <a:r>
              <a:t>Analiza i wizualizacja danych – Pandas, DataFrame  •  Merito Chorzów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565392"/>
            <a:ext cx="731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07D8B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Miks energetyczny</a:t>
            </a:r>
          </a:p>
        </p:txBody>
      </p:sp>
      <p:pic>
        <p:nvPicPr>
          <p:cNvPr id="4" name="Picture 3" descr="04_miks_energetyczn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097280"/>
            <a:ext cx="10972800" cy="540389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5989320"/>
            <a:ext cx="10972800" cy="502920"/>
          </a:xfrm>
          <a:prstGeom prst="rect">
            <a:avLst/>
          </a:prstGeom>
          <a:solidFill>
            <a:srgbClr val="EC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053328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63238"/>
                </a:solidFill>
              </a:defRPr>
            </a:pPr>
            <a:r>
              <a:t>Średni udział OZE w produkcji: ok. 37.7% — trend wzrostowy w analizowanym okresie.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C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07D8B"/>
                </a:solidFill>
              </a:defRPr>
            </a:pPr>
            <a:r>
              <a:t>Analiza i wizualizacja danych – Pandas, DataFrame  •  Merito Chorzów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565392"/>
            <a:ext cx="731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07D8B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Dashboard interaktywny (Plotly)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1430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07D8B"/>
                </a:solidFill>
              </a:defRPr>
            </a:pPr>
            <a:r>
              <a:t>Wymaganie: wykresy +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263238"/>
                </a:solidFill>
              </a:defRPr>
            </a:pPr>
            <a:r>
              <a:t>•  W notebooku analiza.ipynb — sekcja 3.8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39112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263238"/>
                </a:solidFill>
              </a:defRPr>
            </a:pPr>
            <a:r>
              <a:t>•  Cztery panele: szereg zużycia, profil dobowy, cena vs zużycie, udział OZE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478024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263238"/>
                </a:solidFill>
              </a:defRPr>
            </a:pPr>
            <a:r>
              <a:t>•  Interaktywny zoom, hover z wartościami, wspólna oś czasu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916936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263238"/>
                </a:solidFill>
              </a:defRPr>
            </a:pPr>
            <a:r>
              <a:t>•  Uzupełnia statyczne wykresy Matplotlib/Seaborn o eksplorację „na żywo”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C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65392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07D8B"/>
                </a:solidFill>
              </a:defRPr>
            </a:pPr>
            <a:r>
              <a:t>Analiza i wizualizacja danych – Pandas, DataFrame  •  Merito Chorzów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565392"/>
            <a:ext cx="731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07D8B"/>
                </a:solidFill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63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2E7D32"/>
                </a:solidFill>
              </a:defRPr>
            </a:pPr>
            <a: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Analiza statystyczna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C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65392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07D8B"/>
                </a:solidFill>
              </a:defRPr>
            </a:pPr>
            <a:r>
              <a:t>Analiza i wizualizacja danych – Pandas, DataFrame  •  Merito Chorzów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565392"/>
            <a:ext cx="731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07D8B"/>
                </a:solidFill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Analiza rozkładu</a:t>
            </a:r>
          </a:p>
        </p:txBody>
      </p:sp>
      <p:pic>
        <p:nvPicPr>
          <p:cNvPr id="4" name="Picture 3" descr="06_rozkł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097280"/>
            <a:ext cx="10972800" cy="539341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5989320"/>
            <a:ext cx="10972800" cy="502920"/>
          </a:xfrm>
          <a:prstGeom prst="rect">
            <a:avLst/>
          </a:prstGeom>
          <a:solidFill>
            <a:srgbClr val="EC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053328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63238"/>
                </a:solidFill>
              </a:defRPr>
            </a:pPr>
            <a:r>
              <a:t>Rozkład dziennych średnich: μ = 28,698 MW, σ = 4,576 MW — lekko skośny.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C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07D8B"/>
                </a:solidFill>
              </a:defRPr>
            </a:pPr>
            <a:r>
              <a:t>Analiza i wizualizacja danych – Pandas, DataFrame  •  Merito Chorzów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565392"/>
            <a:ext cx="731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07D8B"/>
                </a:solidFill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Statystyki opisowe zużycia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80160"/>
            <a:ext cx="3469538" cy="4389120"/>
          </a:xfrm>
          <a:prstGeom prst="roundRect">
            <a:avLst/>
          </a:prstGeom>
          <a:solidFill>
            <a:srgbClr val="ECEFF1"/>
          </a:solidFill>
          <a:ln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07D8B"/>
                </a:solidFill>
              </a:defRPr>
            </a:pPr>
            <a:r>
              <a:t>Średnia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324093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565C0"/>
                </a:solidFill>
              </a:defRPr>
            </a:pPr>
            <a:r>
              <a:t>28,698 MW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00400"/>
            <a:ext cx="3240938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63238"/>
                </a:solidFill>
              </a:defRPr>
            </a:pPr>
            <a:r>
              <a:t>Godzinowe obciążenie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46778" y="1280160"/>
            <a:ext cx="3469538" cy="4389120"/>
          </a:xfrm>
          <a:prstGeom prst="roundRect">
            <a:avLst/>
          </a:prstGeom>
          <a:solidFill>
            <a:srgbClr val="ECEFF1"/>
          </a:solidFill>
          <a:ln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1508760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07D8B"/>
                </a:solidFill>
              </a:defRPr>
            </a:pPr>
            <a:r>
              <a:t>Mediana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29658" y="2011680"/>
            <a:ext cx="324093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565C0"/>
                </a:solidFill>
              </a:defRPr>
            </a:pPr>
            <a:r>
              <a:t>28,902 MW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3200400"/>
            <a:ext cx="3240938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63238"/>
                </a:solidFill>
              </a:defRPr>
            </a:pPr>
            <a:r>
              <a:t>Odporna na skrajne wartości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44916" y="1280160"/>
            <a:ext cx="3469538" cy="4389120"/>
          </a:xfrm>
          <a:prstGeom prst="roundRect">
            <a:avLst/>
          </a:prstGeom>
          <a:solidFill>
            <a:srgbClr val="ECEFF1"/>
          </a:solidFill>
          <a:ln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7796" y="1508760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07D8B"/>
                </a:solidFill>
              </a:defRPr>
            </a:pPr>
            <a:r>
              <a:t>Min / Max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7796" y="2011680"/>
            <a:ext cx="324093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565C0"/>
                </a:solidFill>
              </a:defRPr>
            </a:pPr>
            <a:r>
              <a:t>18,041 / 41,015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27796" y="3200400"/>
            <a:ext cx="3240938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63238"/>
                </a:solidFill>
              </a:defRPr>
            </a:pPr>
            <a:r>
              <a:t>Zakres 4 lat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C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565392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07D8B"/>
                </a:solidFill>
              </a:defRPr>
            </a:pPr>
            <a:r>
              <a:t>Analiza i wizualizacja danych – Pandas, DataFrame  •  Merito Chorzów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94415" y="6565392"/>
            <a:ext cx="731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07D8B"/>
                </a:solidFill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Testy statystyczne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14300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263238"/>
                </a:solidFill>
              </a:defRPr>
            </a:pPr>
            <a:r>
              <a:t>•  Shapiro-Wilk (normalność dziennych średnich): p = 9.16e-06 → odrzucamy normalność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81912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263238"/>
                </a:solidFill>
              </a:defRPr>
            </a:pPr>
            <a:r>
              <a:t>•  Wniosek: stosujemy testy nieparametryczne i robustne miary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20824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263238"/>
                </a:solidFill>
              </a:defRPr>
            </a:pPr>
            <a:r>
              <a:t>•  Mann-Whitney U (weekend vs dzień roboczy): p = 0.00e+00 → różnica istotna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459736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263238"/>
                </a:solidFill>
              </a:defRPr>
            </a:pPr>
            <a:r>
              <a:t>•  Średnia roboczy: 29,425 MW  |  weekend: 26,884 MW  (−8.6%)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898648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263238"/>
                </a:solidFill>
              </a:defRPr>
            </a:pPr>
            <a:r>
              <a:t>•  Pearson (zużycie–temp.): r = 0.203, p = 0.00e+00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33756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263238"/>
                </a:solidFill>
              </a:defRPr>
            </a:pPr>
            <a:r>
              <a:t>•  Spearman (zużycie–temp.): ρ = 0.182 — zależność monotoniczna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C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565392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07D8B"/>
                </a:solidFill>
              </a:defRPr>
            </a:pPr>
            <a:r>
              <a:t>Analiza i wizualizacja danych – Pandas, DataFrame  •  Merito Chorzów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565392"/>
            <a:ext cx="731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07D8B"/>
                </a:solidFill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Weekend vs dzień roboczy</a:t>
            </a:r>
          </a:p>
        </p:txBody>
      </p:sp>
      <p:pic>
        <p:nvPicPr>
          <p:cNvPr id="4" name="Picture 3" descr="07_weekend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097280"/>
            <a:ext cx="10972800" cy="697784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5989320"/>
            <a:ext cx="10972800" cy="502920"/>
          </a:xfrm>
          <a:prstGeom prst="rect">
            <a:avLst/>
          </a:prstGeom>
          <a:solidFill>
            <a:srgbClr val="EC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053328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63238"/>
                </a:solidFill>
              </a:defRPr>
            </a:pPr>
            <a:r>
              <a:t>Boxplot potwierdza niższe zużycie i mniejszą zmienność w weekendy.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C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07D8B"/>
                </a:solidFill>
              </a:defRPr>
            </a:pPr>
            <a:r>
              <a:t>Analiza i wizualizacja danych – Pandas, DataFrame  •  Merito Chorzów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565392"/>
            <a:ext cx="731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07D8B"/>
                </a:solidFill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63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2E7D32"/>
                </a:solidFill>
              </a:defRPr>
            </a:pPr>
            <a: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Analiza zaawansowana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C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65392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07D8B"/>
                </a:solidFill>
              </a:defRPr>
            </a:pPr>
            <a:r>
              <a:t>Analiza i wizualizacja danych – Pandas, DataFrame  •  Merito Chorzów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565392"/>
            <a:ext cx="731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07D8B"/>
                </a:solidFill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Szereg czasowy — dekompozycja</a:t>
            </a:r>
          </a:p>
        </p:txBody>
      </p:sp>
      <p:pic>
        <p:nvPicPr>
          <p:cNvPr id="4" name="Picture 3" descr="08_dekompozycj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097280"/>
            <a:ext cx="10972800" cy="819257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5989320"/>
            <a:ext cx="10972800" cy="502920"/>
          </a:xfrm>
          <a:prstGeom prst="rect">
            <a:avLst/>
          </a:prstGeom>
          <a:solidFill>
            <a:srgbClr val="EC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053328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63238"/>
                </a:solidFill>
              </a:defRPr>
            </a:pPr>
            <a:r>
              <a:t>Model addytywny (okres 365 dni): trend + sezonowość roczna + składnik losowy.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C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07D8B"/>
                </a:solidFill>
              </a:defRPr>
            </a:pPr>
            <a:r>
              <a:t>Analiza i wizualizacja danych – Pandas, DataFrame  •  Merito Chorzów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565392"/>
            <a:ext cx="731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07D8B"/>
                </a:solidFill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Prognoza predykcyjna — regresja liniowa</a:t>
            </a:r>
          </a:p>
        </p:txBody>
      </p:sp>
      <p:pic>
        <p:nvPicPr>
          <p:cNvPr id="4" name="Picture 3" descr="05_prognoz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097280"/>
            <a:ext cx="10972800" cy="371844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5989320"/>
            <a:ext cx="10972800" cy="502920"/>
          </a:xfrm>
          <a:prstGeom prst="rect">
            <a:avLst/>
          </a:prstGeom>
          <a:solidFill>
            <a:srgbClr val="EC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053328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63238"/>
                </a:solidFill>
              </a:defRPr>
            </a:pPr>
            <a:r>
              <a:t>Trenowanie: 2015–2017, test: 2018  |  MAE = 3,384 MW  |  MAPE = 11.7%  |  R² = 0.206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C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07D8B"/>
                </a:solidFill>
              </a:defRPr>
            </a:pPr>
            <a:r>
              <a:t>Analiza i wizualizacja danych – Pandas, DataFrame  •  Merito Chorzów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565392"/>
            <a:ext cx="731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07D8B"/>
                </a:solidFill>
              </a:defRPr>
            </a:pPr>
            <a:r>
              <a:t>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Model predykcyjny — szczegóły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14300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263238"/>
                </a:solidFill>
              </a:defRPr>
            </a:pPr>
            <a:r>
              <a:t>•  Algorytm: wielomianowa regresja liniowa (scikit-learn LinearRegression)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81912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263238"/>
                </a:solidFill>
              </a:defRPr>
            </a:pPr>
            <a:r>
              <a:t>•  Cechy: godzina, dzień tygodnia, miesiąc, flaga weekend, temperatura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20824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263238"/>
                </a:solidFill>
              </a:defRPr>
            </a:pPr>
            <a:r>
              <a:t>•  Największy wpływ: godzina (coef ≈ 239.1)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459736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263238"/>
                </a:solidFill>
              </a:defRPr>
            </a:pPr>
            <a:r>
              <a:t>•  Baseline pod modele ARIMA / uczenie maszynowe (notebook opcjonalny)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898648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263238"/>
                </a:solidFill>
              </a:defRPr>
            </a:pPr>
            <a:r>
              <a:t>•  Big Data / Spark: nie wymagane — wymaganie „zaawansowane” spełnia szereg czasowy + ML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C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65392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07D8B"/>
                </a:solidFill>
              </a:defRPr>
            </a:pPr>
            <a:r>
              <a:t>Analiza i wizualizacja danych – Pandas, DataFrame  •  Merito Chorzów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565392"/>
            <a:ext cx="731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07D8B"/>
                </a:solidFill>
              </a:defRPr>
            </a:pPr>
            <a: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Mapowanie wymagań zaliczeniowych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4360" y="1188720"/>
          <a:ext cx="1097280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114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Wymaganie</a:t>
                      </a:r>
                    </a:p>
                  </a:txBody>
                  <a:tcPr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Realizacja</a:t>
                      </a:r>
                    </a:p>
                  </a:txBody>
                  <a:tcPr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Gdzie</a:t>
                      </a:r>
                    </a:p>
                  </a:txBody>
                  <a:tcPr>
                    <a:solidFill>
                      <a:srgbClr val="1565C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DataFrame + praktyki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read_csv, index czasowy, typy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analiza.ipynb §1–2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Pre-processing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czyszczenie, join, cechy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analiza.ipynb §2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Wizualizacja + dashboard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Matplotlib, Plotly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analiza.ipynb §3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Statystyka + testy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describe, Shapiro, Mann-Whitney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analiza.ipynb §4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Zaawansowane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dekompozycja, regresja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analiza.ipynb §5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Dokumentacja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raport, PPT, kod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docs/, repo GitHub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C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65392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07D8B"/>
                </a:solidFill>
              </a:defRPr>
            </a:pPr>
            <a:r>
              <a:t>Analiza i wizualizacja danych – Pandas, DataFrame  •  Merito Chorzów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565392"/>
            <a:ext cx="731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07D8B"/>
                </a:solidFill>
              </a:defRPr>
            </a:pPr>
            <a:r>
              <a:t>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Wnioski końcowe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14300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263238"/>
                </a:solidFill>
              </a:defRPr>
            </a:pPr>
            <a:r>
              <a:t>•  Zużycie energii w Hiszpanii ma silną sezonowość roczną i tygodniową.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81912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263238"/>
                </a:solidFill>
              </a:defRPr>
            </a:pPr>
            <a:r>
              <a:t>•  Weekendy charakteryzują się istotnie niższym obciążeniem (~9% vs dni robocze).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20824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263238"/>
                </a:solidFill>
              </a:defRPr>
            </a:pPr>
            <a:r>
              <a:t>•  Temperatura jest istotnym predyktorem (korelacja ze zużyciem).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459736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263238"/>
                </a:solidFill>
              </a:defRPr>
            </a:pPr>
            <a:r>
              <a:t>•  Model regresji liniowej osiąga MAPE ≈ 11.7% — sensowny punkt odniesienia.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898648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263238"/>
                </a:solidFill>
              </a:defRPr>
            </a:pPr>
            <a:r>
              <a:t>•  Rekomendacja: modele sezonowe (SARIMA) lub ML z lagami dla produkcji.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C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65392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07D8B"/>
                </a:solidFill>
              </a:defRPr>
            </a:pPr>
            <a:r>
              <a:t>Analiza i wizualizacja danych – Pandas, DataFrame  •  Merito Chorzów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565392"/>
            <a:ext cx="731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07D8B"/>
                </a:solidFill>
              </a:defRPr>
            </a:pPr>
            <a:r>
              <a:t>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Dziękujemy za uwagę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</a:defRPr>
            </a:pPr>
            <a:r>
              <a:t>Pytania i dyskusja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t>https://github.com/BartoszBugla/prognoza-zapotrzebowania-na-energie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