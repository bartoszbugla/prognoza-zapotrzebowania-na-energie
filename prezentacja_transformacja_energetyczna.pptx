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192B0-DD98-D970-42E9-EDEC13258D85}" v="49" dt="2026-06-07T06:53:42.814"/>
    <p1510:client id="{EEAFA081-2266-A058-883C-CDE756028C25}" v="42" dt="2026-06-06T19:10:26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28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Dzień dobry, nazywam się Dawid. Razem z Bartkiem pokażemy, jak przez ostatnią dekadę zmieniał się polski rynek energii. Oparliśmy się na oficjalnych danych z platformy ENTSO-E. Będzie kilka wykresów i jasne wnioski.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Postawiliśmy sobie cztery pytania. Jak zmienił się miks energetyczny. Co naprawdę rusza cenami prądu. Czy wzorce w zużyciu, jak niższy weekend, są prawdziwe, czy tylko nam się tak wydaje. I jak Polska wypada na tle pięciu krajów Unii.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Dane są godzinowe i pochodzą z oficjalnej platformy ENTSO-E. Dla Polski mamy pełną dekadę, czyli około 96 tysięcy godzin. Łącznie z innymi krajami ponad 350 tysięcy rekordów. Cały proces podzieliliśmy na trzy etapy: pobieranie, czyszczenie i analizę. Po czyszczeniu dane nie mają żadnych braków.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Cena prądu to prawie kronika wydarzeń. Widać dwa szczyty: 2018, gdy drożał węgiel i CO2, oraz 2022, czyli kryzys energetyczny. Integracja z rynkiem unijnym w 2019 i pandemia w 2020 mocno ceny obniżyły. Dziś jest stabilnie, około 100 euro.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To jedno z ciekawszych zjawisk. Od 2023 zdarzają się godziny, gdy cena spada poniżej zera, czyli producent dopłaca do oddania prądu. I jest ich coraz więcej: najpierw 43, potem prawie 200, a w 2025 już ponad 300. Prawie zawsze koło południa, w szczycie fotowoltaiki. To sygnał, że potrzebujemy magazynów energii.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Najważniejszy obraz transformacji. W 2015 węgiel to ponad 86 procent produkcji. Dekadę później już tylko 52. Fotowoltaika urosła od zera do 12 procent. W liczbach produkcja z węgla spadła o 30 procent. Transformacja jest prawdziwa, ale węgiel wciąż dominuje.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[DAWID] Tu widać, gdzie jesteśmy na tle Europy. Polska ma umiarkowany udział OZE, wyraźnie mniejszy niż Szwecja czy Niemcy, ale linia rośnie. Nadrabiamy, tylko z pewnego dystansu. I tu oddaję głos Bartkowi.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Dziękuję. Polska zużywa około 168 terawatogodzin rocznie, dużo mniej niż Niemcy czy Francja. Ale na cenach widać wspólny skok w 2022 i zbliżanie się cen w kolejnych latach. Jesteśmy mniejszym rynkiem, a podlegamy tym samym szokom co cała Unia.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Dzienne zużycie rozłożyliśmy na trzy części. Trend rośnie do 2019, potem jest dołek w pandemii i stabilizacja. Sezon roczny to regularne fale: zimą więcej, latem mniej. Test statystyczny potwierdza, że szereg nadaje się do prognozowania.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Na zużycie z 2024 nałożyliśmy święta państwowe. Każde święto to wyraźny spadek, dokładnie jak weekend. Najniżej wypada Wigilia. To ważne dla operatora sieci, bo takie spadki trzeba zaplanować z wyprzedzeniem.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Intuicja mówi, że w weekend zużywamy mniej. Sprawdziliśmy to liczbami. W dzień roboczy to prawie 20 tysięcy megawatów, w weekend około 17, czyli o 15 procent mniej. Test Manna-Whitneya potwierdza, że różnica jest prawdziwa, a jej siła jest duża. Na wykresie widać też, że w dni robocze mamy szczyt koło południa, a weekend jest spłaszczony.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Macierz korelacji w skrócie. Zużycie najmocniej idzie w parze z węglem, bo węgiel pokrywa bazę. Węgiel i OZE są skorelowane ujemnie, bo się wypierają. I co ważne, więcej OZE wiąże się z niższymi cenami.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Cztery rzeczy do zapamiętania. Transformacja jest prawdziwa, ale węgiel wciąż dominuje. OZE zmienia rynek i wymusza magazyny energii. Ceny zależą od wydarzeń na świecie. A wzorce w zużyciu da się zmierzyć, nie są przypadkowe.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[BARTEK] To wszystko, dziękujemy za </a:t>
            </a:r>
            <a:r>
              <a:rPr lang="en-US" err="1"/>
              <a:t>uwagę</a:t>
            </a:r>
            <a:r>
              <a:rPr lang="pl-PL"/>
              <a:t>. </a:t>
            </a:r>
            <a:r>
              <a:rPr lang="en-US" err="1"/>
              <a:t>Chętnie</a:t>
            </a:r>
            <a:r>
              <a:rPr lang="en-US"/>
              <a:t> odpowiemy na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8680" y="640080"/>
            <a:ext cx="82296" cy="8229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ANALIZA I WIZUALIZACJA DANYCH, PANDAS</a:t>
            </a:r>
            <a:endParaRPr lang="en-US" sz="1400">
              <a:latin typeface="Montserrat" pitchFamily="2" charset="-1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Transformacja energetyczna Polski</a:t>
            </a:r>
            <a:endParaRPr lang="en-US" sz="4400">
              <a:latin typeface="Montserrat" pitchFamily="2" charset="-1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Co dekada danych ENTSO-E mówi o cenach, węglu i OZE</a:t>
            </a:r>
            <a:endParaRPr lang="en-US" sz="2100">
              <a:latin typeface="Montserrat" pitchFamily="2" charset="-1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41148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Dawid Hetmańczyk  i  Bartosz Bugla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WSB Merito Chorzów · dane: ENTSO-E Transparency Platform (2015-2025)</a:t>
            </a:r>
            <a:endParaRPr lang="en-US" sz="130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 CO TO ROBIMY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Cztery pytania, na które odpowiadamy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91440" cy="169164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01</a:t>
            </a:r>
            <a:endParaRPr lang="en-US" sz="2400">
              <a:latin typeface="Montserrat" pitchFamily="2" charset="-18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587752"/>
            <a:ext cx="476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Jak zmienił się miks?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99008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Węgiel kontra OZE w dekadzie 2015-2025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78728" y="1874520"/>
            <a:ext cx="91440" cy="169164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53048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E9E5B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02</a:t>
            </a:r>
            <a:endParaRPr lang="en-US" sz="2400">
              <a:latin typeface="Montserrat" pitchFamily="2" charset="-1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3048" y="2587752"/>
            <a:ext cx="476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Co rusza cenami?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53048" y="299008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Integracja z UE, kryzys, fotowoltaika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91440" cy="1691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03</a:t>
            </a:r>
            <a:endParaRPr lang="en-US" sz="2400">
              <a:latin typeface="Montserrat" pitchFamily="2" charset="-1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476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Czy wzorce są realne?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491032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Weekend i święta sprawdzone testem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78728" y="379476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78728" y="3794760"/>
            <a:ext cx="91440" cy="169164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3048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04</a:t>
            </a:r>
            <a:endParaRPr lang="en-US" sz="2400">
              <a:latin typeface="Montserrat" pitchFamily="2" charset="-1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3048" y="4507992"/>
            <a:ext cx="476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Jak wypadamy w UE?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53048" y="491032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Polska wśród Niemiec, Francji, Hiszpanii, Szwecji, Bułgarii</a:t>
            </a:r>
            <a:endParaRPr lang="en-US" sz="130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DANE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Dekada godzin z oficjalnego źródła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0482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359 tys.</a:t>
            </a:r>
            <a:endParaRPr lang="en-US" sz="2500">
              <a:latin typeface="Montserrat" pitchFamily="2" charset="-1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528" y="254203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rekordów godzinowych (6 krajów)</a:t>
            </a:r>
            <a:endParaRPr lang="en-US" sz="1150">
              <a:latin typeface="Montserrat" pitchFamily="2" charset="-1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0" y="20482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2E9E5B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96 tys.</a:t>
            </a:r>
            <a:endParaRPr lang="en-US" sz="2500">
              <a:latin typeface="Montserrat" pitchFamily="2" charset="-1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07408" y="254203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godzin dla Polski (2015-2025)</a:t>
            </a:r>
            <a:endParaRPr lang="en-US" sz="1150">
              <a:latin typeface="Montserrat" pitchFamily="2" charset="-1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63840" y="192024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01000" y="20482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CADCFC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</a:t>
            </a:r>
            <a:endParaRPr lang="en-US" sz="2500">
              <a:latin typeface="Montserrat" pitchFamily="2" charset="-1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19288" y="2542032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braków po czyszczeniu</a:t>
            </a:r>
            <a:endParaRPr lang="en-US" sz="1150">
              <a:latin typeface="Montserrat" pitchFamily="2" charset="-1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B3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Skąd i jak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66674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3611880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ENTSO-E Transparency Platform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3959352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Oficjalne dane o rynku energii w Europie, pobierane przez API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562856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" y="4507992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Pięć typów danych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1248" y="4855464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Produkcja wg źródeł, zapotrzebowanie, ceny, prognozy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5458968"/>
            <a:ext cx="5486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" y="5404104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Gotowy pipeline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" y="5751576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Pobieranie, czyszczenie i analiza w trzech notebookach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75120" y="352044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03720" y="3657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B3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Polska: kluczowe zmienne</a:t>
            </a:r>
            <a:endParaRPr lang="en-US" sz="1400">
              <a:latin typeface="Montserrat" pitchFamily="2" charset="-1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49440" y="4123944"/>
            <a:ext cx="91440" cy="9144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78040" y="4023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Actual Load [MW]: zapotrzebowanie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49440" y="4535424"/>
            <a:ext cx="91440" cy="9144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78040" y="4434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Price DA [EUR/MWh]: cena hurtowa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949440" y="4946904"/>
            <a:ext cx="91440" cy="9144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78040" y="4846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Produkcja wg źródeł (węgiel, gaz, PV, wiatr)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949440" y="5358384"/>
            <a:ext cx="91440" cy="9144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78040" y="5257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renewable: łączne OZE (liczone)</a:t>
            </a:r>
            <a:endParaRPr lang="en-US" sz="125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CENY ENERGII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Cena prądu odbija wydarzenia na świecie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01_srednia_roczna_c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05364"/>
            <a:ext cx="7299655" cy="4053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2082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Dwa szczyty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31343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2018 drogi CO2, 2022 kryzys energetyczny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299008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Coupling i pandemia w dół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3337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Integracja z UE w 2019 i COVID w 2020 obniżyły ceny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4069080"/>
            <a:ext cx="5486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1248" y="40142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Dziś około 100 EUR/MWh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" y="436168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Stabilnie, z lekkim trendem w dół dzięki OZE</a:t>
            </a:r>
            <a:endParaRPr lang="en-US" sz="125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CENY ENERGII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Od 2023 prąd bywa darmowy w południe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03_ujemne_ce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290072"/>
            <a:ext cx="7299655" cy="3283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2082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Coraz częściej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31343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43, potem 197, a w 2025 już 310 godzin poniżej zera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299008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Zawsze w godzinach 10-15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3337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Szczyt fotowoltaiki, tak zwany duck curve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4069080"/>
            <a:ext cx="5486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1248" y="40142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To problem systemu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" y="436168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Brakuje elastyczności, potrzebujemy magazynów energii</a:t>
            </a:r>
            <a:endParaRPr lang="en-US" sz="125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MIKS ENERGETYCZNY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Węgiel: z 86% do 52% w jedną dekadę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04_mix_energetycz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05364"/>
            <a:ext cx="7299655" cy="4053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6654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20116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Węgiel wciąż króluje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35915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ale jego udział spadł z 86,5% (2015) do 52% (2025)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090672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303580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PV od zera do 12%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338328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Fotowoltaika rośnie najszybciej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420624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7240" y="43342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-30%</a:t>
            </a:r>
            <a:endParaRPr lang="en-US" sz="2500">
              <a:latin typeface="Montserrat" pitchFamily="2" charset="-1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95528" y="48280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produkcja z węgla (ze 128 do 89 TWh)</a:t>
            </a:r>
            <a:endParaRPr lang="en-US" sz="115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POLSKA NA TLE UE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W OZE gonimy Europę, ale z dystansu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07a_udzial_oze_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264384" cy="3383280"/>
          </a:xfrm>
          <a:prstGeom prst="rect">
            <a:avLst/>
          </a:prstGeom>
        </p:spPr>
      </p:pic>
      <p:pic>
        <p:nvPicPr>
          <p:cNvPr id="7" name="Image 1" descr="/sessions/kind-eager-bardeen/mnt/Projekt zaliczeniowy/charts/07b_produkcja_oze_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5212080" cy="33496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Udział OZE w generacji (lewo) i produkcja OZE w TWh (prawo). Polska na tle Niemiec, Francji, Hiszpanii, Bułgarii i Szwecji</a:t>
            </a:r>
            <a:endParaRPr lang="en-US" sz="120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POLSKA NA TLE UE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Mniejszy rynek, te same szoki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07c_zapotrzebowanie_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264384" cy="3383280"/>
          </a:xfrm>
          <a:prstGeom prst="rect">
            <a:avLst/>
          </a:prstGeom>
        </p:spPr>
      </p:pic>
      <p:pic>
        <p:nvPicPr>
          <p:cNvPr id="7" name="Image 1" descr="/sessions/kind-eager-bardeen/mnt/Projekt zaliczeniowy/charts/08_ceny_ue_rocz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5212080" cy="33496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Roczne zapotrzebowanie (lewo) i średnia cena (prawo). Polska około 168 TWh, Niemcy około 479, Francja około 442</a:t>
            </a:r>
            <a:endParaRPr lang="en-US" sz="120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SZEREGI CZASOWE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1123" y="738765"/>
            <a:ext cx="5405258" cy="879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Zapotrzebowanie to trend, sezon i anomalie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09_dekompozyc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482" y="231471"/>
            <a:ext cx="5598637" cy="63462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2082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Trend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31343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Wzrost do 2019, dołek w pandemii 2020, potem stabilizacja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299008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Sezon roczny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3337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Regularne fale: zima w górę, lato w dół</a:t>
            </a:r>
            <a:endParaRPr lang="en-US" sz="125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ANOMALIE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5000"/>
              </a:lnSpc>
            </a:pPr>
            <a:r>
              <a:rPr lang="en-US" sz="3100" b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Święta </a:t>
            </a:r>
            <a:r>
              <a:rPr lang="en-US" sz="3100" b="1" err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wyglądają</a:t>
            </a:r>
            <a:r>
              <a:rPr lang="en-US" sz="3100" b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 jak </a:t>
            </a:r>
            <a:r>
              <a:rPr lang="en-US" sz="3100" b="1" err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anomalie</a:t>
            </a:r>
            <a:endParaRPr lang="en-US" sz="3100" b="1" err="1">
              <a:solidFill>
                <a:srgbClr val="1A2238"/>
              </a:solidFill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pic>
        <p:nvPicPr>
          <p:cNvPr id="6" name="Image 0" descr="/sessions/kind-eager-bardeen/mnt/Projekt zaliczeniowy/charts/10_swieta_zapotrzebowan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6865478" cy="37349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6680" y="1920240"/>
            <a:ext cx="37947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5528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B3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Co z tego wynika</a:t>
            </a:r>
            <a:endParaRPr lang="en-US" sz="1500">
              <a:latin typeface="Montserrat" pitchFamily="2" charset="-18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988410" y="2884203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189578" y="2829339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Każde święto to spadek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89578" y="3176811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Regularnie i przewidywalnie, jak weekend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156448" y="3538728"/>
            <a:ext cx="318211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600" b="1">
              <a:solidFill>
                <a:srgbClr val="1A2238"/>
              </a:solidFill>
              <a:latin typeface="Montserrat" pitchFamily="2" charset="-18"/>
              <a:ea typeface="Calibri"/>
              <a:cs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56448" y="3886200"/>
            <a:ext cx="3182112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>
              <a:solidFill>
                <a:srgbClr val="667085"/>
              </a:solidFill>
              <a:latin typeface="Montserrat" pitchFamily="2" charset="-18"/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993932" y="4109720"/>
            <a:ext cx="54864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95100" y="4054856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Ważne dla PSE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195100" y="4402328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Operator i traderzy planują rezerwy mocy</a:t>
            </a:r>
            <a:endParaRPr lang="en-US" sz="125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ANALIZA STATYSTYCZNA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Weekend to mniej prądu, i to nie przypadek</a:t>
            </a:r>
            <a:endParaRPr lang="en-US" sz="3100">
              <a:latin typeface="Montserrat" pitchFamily="2" charset="-1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202082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19 860 a 16 932 MW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31343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Dzień roboczy kontra weekend, czyli o 14,7% mniej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2990088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Test to potwierdza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3337560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Mann-Whitney U, p bliskie zera, różnica jest realna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7240" y="4105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2E9E5B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d = 1,07</a:t>
            </a:r>
            <a:endParaRPr lang="en-US" sz="2500">
              <a:latin typeface="Montserrat" pitchFamily="2" charset="-1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95528" y="4599432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siła efektu: duża</a:t>
            </a:r>
            <a:endParaRPr lang="en-US" sz="1150">
              <a:latin typeface="Montserrat" pitchFamily="2" charset="-1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91840" y="39776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0F1B3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429000" y="4105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p ≈ 0</a:t>
            </a:r>
            <a:endParaRPr lang="en-US" sz="2500">
              <a:latin typeface="Montserrat" pitchFamily="2" charset="-1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47288" y="4599432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istotność statystyczna</a:t>
            </a:r>
            <a:endParaRPr lang="en-US" sz="1150">
              <a:latin typeface="Montserrat" pitchFamily="2" charset="-1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" y="5212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Rozkłady nie są normalne (Shapiro-Wilk), dlatego użyliśmy testu nieparametrycznego.</a:t>
            </a:r>
            <a:endParaRPr lang="en-US" sz="1200">
              <a:latin typeface="Montserrat" pitchFamily="2" charset="-1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31334-574D-1994-AD5E-D01E65ED7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286" y="1750390"/>
            <a:ext cx="5213732" cy="3362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ANALIZA STATYSTYCZNA</a:t>
            </a:r>
            <a:endParaRPr lang="en-US" sz="12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082735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5000"/>
              </a:lnSpc>
            </a:pPr>
            <a:r>
              <a:rPr lang="en-US" sz="3100" b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Co z </a:t>
            </a:r>
            <a:r>
              <a:rPr lang="en-US" sz="3100" b="1" err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czym</a:t>
            </a:r>
            <a:r>
              <a:rPr lang="en-US" sz="3100" b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100" b="1" err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chodzi</a:t>
            </a:r>
            <a:r>
              <a:rPr lang="en-US" sz="3100" b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 </a:t>
            </a:r>
            <a:endParaRPr lang="en-US" sz="3100">
              <a:solidFill>
                <a:srgbClr val="000000"/>
              </a:solidFill>
              <a:latin typeface="Montserrat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100" b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w </a:t>
            </a:r>
            <a:r>
              <a:rPr lang="en-US" sz="3100" b="1" err="1">
                <a:solidFill>
                  <a:srgbClr val="1A2238"/>
                </a:solidFill>
                <a:latin typeface="Montserrat"/>
                <a:ea typeface="Georgia" pitchFamily="34" charset="-122"/>
                <a:cs typeface="Georgia" pitchFamily="34" charset="-120"/>
              </a:rPr>
              <a:t>parze</a:t>
            </a:r>
            <a:endParaRPr lang="en-US" sz="3100" err="1">
              <a:latin typeface="Montserra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energetyczna Polski (ENTSO-E)</a:t>
            </a:r>
            <a:endParaRPr lang="en-US" sz="900">
              <a:latin typeface="Montserrat" pitchFamily="2" charset="-1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2020824"/>
            <a:ext cx="54864" cy="45720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Prąd i węgiel: +0,74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1248" y="2313432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Węgiel wciąż pokrywa bazę zapotrzebowania</a:t>
            </a:r>
            <a:endParaRPr lang="en-US" sz="1250">
              <a:latin typeface="Montserrat" pitchFamily="2" charset="-1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54864" cy="457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1248" y="299008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238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Węgiel i OZE: ujemnie</a:t>
            </a:r>
            <a:endParaRPr lang="en-US" sz="1600">
              <a:latin typeface="Montserrat" pitchFamily="2" charset="-1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333756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Źródła się wypierają w miksie</a:t>
            </a:r>
            <a:endParaRPr lang="en-US" sz="1250">
              <a:latin typeface="Montserrat" pitchFamily="2" charset="-1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A0419E-1639-4065-7D72-E33A1B57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68" y="762000"/>
            <a:ext cx="6416706" cy="49474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Cztery rzeczy do zapamiętania</a:t>
            </a:r>
            <a:endParaRPr lang="en-US" sz="3000">
              <a:latin typeface="Montserrat" pitchFamily="2" charset="-1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91440" cy="192024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81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01</a:t>
            </a:r>
            <a:endParaRPr lang="en-US" sz="2000">
              <a:latin typeface="Montserrat" pitchFamily="2" charset="-1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Transformacja jest realna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476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Węgiel z 86% do 52%, produkcja o 30% mniej, ale wciąż dominuje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27288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78728" y="1828800"/>
            <a:ext cx="91440" cy="192024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53048" y="2057400"/>
            <a:ext cx="481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E9E5B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02</a:t>
            </a:r>
            <a:endParaRPr lang="en-US" sz="2000">
              <a:latin typeface="Montserrat" pitchFamily="2" charset="-1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53048" y="251460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OZE zmienia rynek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3048" y="2999232"/>
            <a:ext cx="476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Ujemne ceny w południe, potrzebujemy magazynów energii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27288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91440" cy="19202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481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03</a:t>
            </a:r>
            <a:endParaRPr lang="en-US" sz="2000">
              <a:latin typeface="Montserrat" pitchFamily="2" charset="-1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Ceny zależą od świata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5148072"/>
            <a:ext cx="476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Coupling, COVID, kryzys 2022, dziś stabilnie około 100 EUR/MWh</a:t>
            </a:r>
            <a:endParaRPr lang="en-US" sz="1300">
              <a:latin typeface="Montserrat" pitchFamily="2" charset="-1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78728" y="3977640"/>
            <a:ext cx="5272888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78728" y="3977640"/>
            <a:ext cx="91440" cy="192024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53048" y="4206240"/>
            <a:ext cx="481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4A300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04</a:t>
            </a:r>
            <a:endParaRPr lang="en-US" sz="2000">
              <a:latin typeface="Montserrat" pitchFamily="2" charset="-1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3048" y="466344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Wzorce są mierzalne</a:t>
            </a:r>
            <a:endParaRPr lang="en-US" sz="1800">
              <a:latin typeface="Montserrat" pitchFamily="2" charset="-1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3048" y="5148072"/>
            <a:ext cx="476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Weekend o 15% niżej, potwierdzony testem, święta jak weekendy</a:t>
            </a:r>
            <a:endParaRPr lang="en-US" sz="1300">
              <a:latin typeface="Montserrat" pitchFamily="2" charset="-1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82296" cy="82296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8680" y="731520"/>
            <a:ext cx="82296" cy="8229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7315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Montserrat" pitchFamily="2" charset="-18"/>
                <a:ea typeface="Georgia" pitchFamily="34" charset="-122"/>
                <a:cs typeface="Georgia" pitchFamily="34" charset="-120"/>
              </a:rPr>
              <a:t>Dziękujemy za uwagę</a:t>
            </a:r>
            <a:endParaRPr lang="en-US" sz="4000">
              <a:latin typeface="Montserrat" pitchFamily="2" charset="-1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F4A300"/>
                </a:solidFill>
                <a:latin typeface="Montserrat" pitchFamily="2" charset="-18"/>
                <a:ea typeface="Calibri" pitchFamily="34" charset="-122"/>
                <a:cs typeface="Calibri" pitchFamily="34" charset="-120"/>
              </a:rPr>
              <a:t>Pytania? Chętnie odpowiemy.</a:t>
            </a:r>
            <a:endParaRPr lang="en-US" sz="2000">
              <a:latin typeface="Montserrat" pitchFamily="2" charset="-1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297680"/>
            <a:ext cx="41148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>
              <a:latin typeface="Montserrat" pitchFamily="2" charset="-1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WSB Merito Chorzow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Transformacja energetyczna Polski 2015-2025</dc:title>
  <dc:subject>PptxGenJS Presentation</dc:subject>
  <dc:creator>Dawid Hetmanczyk, Bartosz Bugla</dc:creator>
  <cp:revision>2</cp:revision>
  <dcterms:created xsi:type="dcterms:W3CDTF">2026-06-06T14:35:44Z</dcterms:created>
  <dcterms:modified xsi:type="dcterms:W3CDTF">2026-06-07T07:16:27Z</dcterms:modified>
</cp:coreProperties>
</file>